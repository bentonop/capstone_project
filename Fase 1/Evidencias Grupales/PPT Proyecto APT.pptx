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6858000" cx="9144000"/>
  <p:notesSz cx="6858000" cy="9144000"/>
  <p:embeddedFontLst>
    <p:embeddedFont>
      <p:font typeface="Franklin Gothic"/>
      <p:bold r:id="rId23"/>
    </p:embeddedFont>
    <p:embeddedFont>
      <p:font typeface="Bebas Neue"/>
      <p:regular r:id="rId24"/>
    </p:embeddedFont>
    <p:embeddedFont>
      <p:font typeface="Roboto Condensed"/>
      <p:regular r:id="rId25"/>
      <p:bold r:id="rId26"/>
      <p:italic r:id="rId27"/>
      <p:boldItalic r:id="rId28"/>
    </p:embeddedFont>
    <p:embeddedFont>
      <p:font typeface="Roboto Mono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3" roundtripDataSignature="AMtx7miTDeudCKTfubxkKtSkCawne46X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89892BB-5511-4F67-A7E1-3D6C52FF944B}">
  <a:tblStyle styleId="{F89892BB-5511-4F67-A7E1-3D6C52FF944B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9E7EB"/>
          </a:solidFill>
        </a:fill>
      </a:tcStyle>
    </a:wholeTbl>
    <a:band1H>
      <a:tcTxStyle/>
      <a:tcStyle>
        <a:fill>
          <a:solidFill>
            <a:srgbClr val="F2CCD5"/>
          </a:solidFill>
        </a:fill>
      </a:tcStyle>
    </a:band1H>
    <a:band2H>
      <a:tcTxStyle/>
    </a:band2H>
    <a:band1V>
      <a:tcTxStyle/>
      <a:tcStyle>
        <a:fill>
          <a:solidFill>
            <a:srgbClr val="F2CCD5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BebasNeue-regular.fntdata"/><Relationship Id="rId23" Type="http://schemas.openxmlformats.org/officeDocument/2006/relationships/font" Target="fonts/FranklinGothic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Condensed-bold.fntdata"/><Relationship Id="rId25" Type="http://schemas.openxmlformats.org/officeDocument/2006/relationships/font" Target="fonts/RobotoCondensed-regular.fntdata"/><Relationship Id="rId28" Type="http://schemas.openxmlformats.org/officeDocument/2006/relationships/font" Target="fonts/RobotoCondensed-boldItalic.fntdata"/><Relationship Id="rId27" Type="http://schemas.openxmlformats.org/officeDocument/2006/relationships/font" Target="fonts/RobotoCondensed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Mono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Mono-italic.fntdata"/><Relationship Id="rId30" Type="http://schemas.openxmlformats.org/officeDocument/2006/relationships/font" Target="fonts/RobotoMono-bold.fntdata"/><Relationship Id="rId11" Type="http://schemas.openxmlformats.org/officeDocument/2006/relationships/slide" Target="slides/slide5.xml"/><Relationship Id="rId33" Type="http://customschemas.google.com/relationships/presentationmetadata" Target="metadata"/><Relationship Id="rId10" Type="http://schemas.openxmlformats.org/officeDocument/2006/relationships/slide" Target="slides/slide4.xml"/><Relationship Id="rId32" Type="http://schemas.openxmlformats.org/officeDocument/2006/relationships/font" Target="fonts/RobotoMono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/>
          <p:nvPr/>
        </p:nvSpPr>
        <p:spPr>
          <a:xfrm flipH="1">
            <a:off x="-1" y="0"/>
            <a:ext cx="4629587" cy="6858000"/>
          </a:xfrm>
          <a:custGeom>
            <a:rect b="b" l="l" r="r" t="t"/>
            <a:pathLst>
              <a:path extrusionOk="0" h="6858000" w="6172782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" y="11958"/>
            <a:ext cx="4518116" cy="6840855"/>
          </a:xfrm>
          <a:custGeom>
            <a:rect b="b" l="l" r="r" t="t"/>
            <a:pathLst>
              <a:path extrusionOk="0" h="6858000" w="6024154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12" name="Google Shape;1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90123" y="212270"/>
            <a:ext cx="3748263" cy="586221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8"/>
          <p:cNvSpPr txBox="1"/>
          <p:nvPr>
            <p:ph idx="1" type="subTitle"/>
          </p:nvPr>
        </p:nvSpPr>
        <p:spPr>
          <a:xfrm>
            <a:off x="5284700" y="5620875"/>
            <a:ext cx="3603900" cy="873900"/>
          </a:xfrm>
          <a:prstGeom prst="rect">
            <a:avLst/>
          </a:prstGeom>
          <a:solidFill>
            <a:srgbClr val="DE3075"/>
          </a:solidFill>
          <a:ln>
            <a:noFill/>
          </a:ln>
        </p:spPr>
        <p:txBody>
          <a:bodyPr anchorCtr="0" anchor="t" bIns="0" lIns="91425" spcFirstLastPara="1" rIns="182875" wrap="square" tIns="0">
            <a:noAutofit/>
          </a:bodyPr>
          <a:lstStyle>
            <a:lvl1pPr lv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b="1"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1" sz="4800">
                <a:solidFill>
                  <a:srgbClr val="FFFFFF"/>
                </a:solidFill>
              </a:defRPr>
            </a:lvl2pPr>
            <a:lvl3pPr lvl="2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1" sz="4800">
                <a:solidFill>
                  <a:srgbClr val="FFFFFF"/>
                </a:solidFill>
              </a:defRPr>
            </a:lvl3pPr>
            <a:lvl4pPr lvl="3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4800">
                <a:solidFill>
                  <a:srgbClr val="FFFFFF"/>
                </a:solidFill>
              </a:defRPr>
            </a:lvl4pPr>
            <a:lvl5pPr lvl="4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b="1" sz="4800">
                <a:solidFill>
                  <a:srgbClr val="FFFFFF"/>
                </a:solidFill>
              </a:defRPr>
            </a:lvl5pPr>
            <a:lvl6pPr lvl="5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b="1" sz="4800">
                <a:solidFill>
                  <a:srgbClr val="FFFFFF"/>
                </a:solidFill>
              </a:defRPr>
            </a:lvl6pPr>
            <a:lvl7pPr lvl="6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b="1" sz="4800">
                <a:solidFill>
                  <a:srgbClr val="FFFFFF"/>
                </a:solidFill>
              </a:defRPr>
            </a:lvl7pPr>
            <a:lvl8pPr lvl="7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b="1" sz="4800">
                <a:solidFill>
                  <a:srgbClr val="FFFFFF"/>
                </a:solidFill>
              </a:defRPr>
            </a:lvl8pPr>
            <a:lvl9pPr lvl="8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600"/>
              <a:buNone/>
              <a:defRPr b="1" sz="4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4" name="Google Shape;14;p18"/>
          <p:cNvSpPr txBox="1"/>
          <p:nvPr>
            <p:ph type="title"/>
          </p:nvPr>
        </p:nvSpPr>
        <p:spPr>
          <a:xfrm>
            <a:off x="3993775" y="2487700"/>
            <a:ext cx="4894800" cy="2891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6600">
                <a:latin typeface="Calibri"/>
                <a:ea typeface="Calibri"/>
                <a:cs typeface="Calibri"/>
                <a:sym typeface="Calibri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 1">
  <p:cSld name="TITLE_4_1_1">
    <p:bg>
      <p:bgPr>
        <a:solidFill>
          <a:schemeClr val="dk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77307" y="186298"/>
            <a:ext cx="3812148" cy="60130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" name="Google Shape;17;p19"/>
          <p:cNvGrpSpPr/>
          <p:nvPr/>
        </p:nvGrpSpPr>
        <p:grpSpPr>
          <a:xfrm>
            <a:off x="0" y="-124"/>
            <a:ext cx="4853665" cy="5740374"/>
            <a:chOff x="0" y="-126"/>
            <a:chExt cx="4554438" cy="5386482"/>
          </a:xfrm>
        </p:grpSpPr>
        <p:sp>
          <p:nvSpPr>
            <p:cNvPr id="18" name="Google Shape;18;p19"/>
            <p:cNvSpPr/>
            <p:nvPr/>
          </p:nvSpPr>
          <p:spPr>
            <a:xfrm flipH="1" rot="10800000">
              <a:off x="0" y="-126"/>
              <a:ext cx="4554438" cy="5386482"/>
            </a:xfrm>
            <a:custGeom>
              <a:rect b="b" l="l" r="r" t="t"/>
              <a:pathLst>
                <a:path extrusionOk="0" h="6374535" w="5389868">
                  <a:moveTo>
                    <a:pt x="620377" y="6374535"/>
                  </a:moveTo>
                  <a:lnTo>
                    <a:pt x="3459520" y="6374535"/>
                  </a:lnTo>
                  <a:lnTo>
                    <a:pt x="3638761" y="6288190"/>
                  </a:lnTo>
                  <a:cubicBezTo>
                    <a:pt x="4681799" y="5721578"/>
                    <a:pt x="5389868" y="4616487"/>
                    <a:pt x="5389868" y="3346018"/>
                  </a:cubicBezTo>
                  <a:cubicBezTo>
                    <a:pt x="5389868" y="1498063"/>
                    <a:pt x="3891805" y="0"/>
                    <a:pt x="2043850" y="0"/>
                  </a:cubicBezTo>
                  <a:cubicBezTo>
                    <a:pt x="1336430" y="0"/>
                    <a:pt x="680285" y="219535"/>
                    <a:pt x="139826" y="594192"/>
                  </a:cubicBezTo>
                  <a:lnTo>
                    <a:pt x="0" y="700065"/>
                  </a:lnTo>
                  <a:lnTo>
                    <a:pt x="0" y="5991971"/>
                  </a:lnTo>
                  <a:lnTo>
                    <a:pt x="139827" y="6097845"/>
                  </a:lnTo>
                  <a:cubicBezTo>
                    <a:pt x="217035" y="6151367"/>
                    <a:pt x="296605" y="6201724"/>
                    <a:pt x="378347" y="6248727"/>
                  </a:cubicBez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Una caricatura de una ciudad&#10;&#10;Descripción generada automáticamente" id="19" name="Google Shape;19;p19"/>
            <p:cNvPicPr preferRelativeResize="0"/>
            <p:nvPr/>
          </p:nvPicPr>
          <p:blipFill rotWithShape="1">
            <a:blip r:embed="rId3">
              <a:alphaModFix/>
            </a:blip>
            <a:srcRect b="0" l="9870" r="6482" t="0"/>
            <a:stretch/>
          </p:blipFill>
          <p:spPr>
            <a:xfrm>
              <a:off x="1" y="-1"/>
              <a:ext cx="4423169" cy="5247982"/>
            </a:xfrm>
            <a:custGeom>
              <a:rect b="b" l="l" r="r" t="t"/>
              <a:pathLst>
                <a:path extrusionOk="0" h="6210629" w="5234519">
                  <a:moveTo>
                    <a:pt x="1082595" y="0"/>
                  </a:moveTo>
                  <a:lnTo>
                    <a:pt x="3027450" y="0"/>
                  </a:lnTo>
                  <a:lnTo>
                    <a:pt x="3291029" y="96471"/>
                  </a:lnTo>
                  <a:cubicBezTo>
                    <a:pt x="4433137" y="579542"/>
                    <a:pt x="5234519" y="1710443"/>
                    <a:pt x="5234519" y="3028517"/>
                  </a:cubicBezTo>
                  <a:cubicBezTo>
                    <a:pt x="5234519" y="4785949"/>
                    <a:pt x="3809839" y="6210629"/>
                    <a:pt x="2052407" y="6210629"/>
                  </a:cubicBezTo>
                  <a:cubicBezTo>
                    <a:pt x="1283531" y="6210629"/>
                    <a:pt x="578345" y="5937936"/>
                    <a:pt x="28288" y="5483989"/>
                  </a:cubicBezTo>
                  <a:lnTo>
                    <a:pt x="0" y="5458279"/>
                  </a:lnTo>
                  <a:lnTo>
                    <a:pt x="0" y="598754"/>
                  </a:lnTo>
                  <a:lnTo>
                    <a:pt x="28288" y="573044"/>
                  </a:lnTo>
                  <a:cubicBezTo>
                    <a:pt x="303317" y="346070"/>
                    <a:pt x="617127" y="164410"/>
                    <a:pt x="958290" y="39494"/>
                  </a:cubicBezTo>
                  <a:close/>
                </a:path>
              </a:pathLst>
            </a:custGeom>
            <a:noFill/>
            <a:ln>
              <a:noFill/>
            </a:ln>
          </p:spPr>
        </p:pic>
      </p:grpSp>
      <p:sp>
        <p:nvSpPr>
          <p:cNvPr id="20" name="Google Shape;20;p19"/>
          <p:cNvSpPr txBox="1"/>
          <p:nvPr>
            <p:ph type="title"/>
          </p:nvPr>
        </p:nvSpPr>
        <p:spPr>
          <a:xfrm>
            <a:off x="3004575" y="3476150"/>
            <a:ext cx="5995800" cy="1603200"/>
          </a:xfrm>
          <a:prstGeom prst="rect">
            <a:avLst/>
          </a:prstGeom>
          <a:solidFill>
            <a:srgbClr val="DE3075">
              <a:alpha val="64314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>
                <a:latin typeface="Calibri"/>
                <a:ea typeface="Calibri"/>
                <a:cs typeface="Calibri"/>
                <a:sym typeface="Calibri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 3">
  <p:cSld name="OBJECT_1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0"/>
          <p:cNvSpPr/>
          <p:nvPr/>
        </p:nvSpPr>
        <p:spPr>
          <a:xfrm>
            <a:off x="770850" y="212725"/>
            <a:ext cx="903600" cy="813000"/>
          </a:xfrm>
          <a:prstGeom prst="parallelogram">
            <a:avLst>
              <a:gd fmla="val 45310" name="adj"/>
            </a:avLst>
          </a:prstGeom>
          <a:solidFill>
            <a:srgbClr val="7027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20"/>
          <p:cNvSpPr/>
          <p:nvPr/>
        </p:nvSpPr>
        <p:spPr>
          <a:xfrm>
            <a:off x="146422" y="212725"/>
            <a:ext cx="903600" cy="813000"/>
          </a:xfrm>
          <a:prstGeom prst="parallelogram">
            <a:avLst>
              <a:gd fmla="val 45310" name="adj"/>
            </a:avLst>
          </a:prstGeom>
          <a:gradFill>
            <a:gsLst>
              <a:gs pos="0">
                <a:srgbClr val="FFFFFF"/>
              </a:gs>
              <a:gs pos="65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" name="Google Shape;24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79349" y="389413"/>
            <a:ext cx="2746703" cy="459625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20"/>
          <p:cNvSpPr txBox="1"/>
          <p:nvPr>
            <p:ph idx="1" type="body"/>
          </p:nvPr>
        </p:nvSpPr>
        <p:spPr>
          <a:xfrm>
            <a:off x="294150" y="1218600"/>
            <a:ext cx="8555700" cy="51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  <a:defRPr i="0" sz="2400" u="none" cap="none" strike="noStrike">
                <a:solidFill>
                  <a:srgbClr val="81899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ranklin Gothic"/>
              <a:buChar char="•"/>
              <a:defRPr i="0" sz="2000" u="none" cap="none" strike="noStrik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indent="-3429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lin Gothic"/>
              <a:buChar char="○"/>
              <a:defRPr i="0" sz="18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indent="-3302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ranklin Gothic"/>
              <a:buChar char="•"/>
              <a:defRPr i="0" sz="1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ranklin Gothic"/>
              <a:buChar char="•"/>
              <a:defRPr i="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indent="-3048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Franklin Gothic"/>
              <a:buChar char="•"/>
              <a:defRPr i="0" sz="12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indent="-2921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ranklin Gothic"/>
              <a:buChar char="•"/>
              <a:defRPr i="0" sz="10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indent="-2794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Franklin Gothic"/>
              <a:buChar char="•"/>
              <a:defRPr i="0" sz="8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indent="-2667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600"/>
              <a:buFont typeface="Franklin Gothic"/>
              <a:buChar char="•"/>
              <a:defRPr i="0" sz="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/>
        </p:txBody>
      </p:sp>
      <p:sp>
        <p:nvSpPr>
          <p:cNvPr id="26" name="Google Shape;26;p20"/>
          <p:cNvSpPr/>
          <p:nvPr/>
        </p:nvSpPr>
        <p:spPr>
          <a:xfrm>
            <a:off x="1372975" y="212725"/>
            <a:ext cx="4806374" cy="813000"/>
          </a:xfrm>
          <a:prstGeom prst="parallelogram">
            <a:avLst>
              <a:gd fmla="val 4531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27" name="Google Shape;27;p20"/>
          <p:cNvSpPr txBox="1"/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20"/>
          <p:cNvSpPr txBox="1"/>
          <p:nvPr/>
        </p:nvSpPr>
        <p:spPr>
          <a:xfrm>
            <a:off x="69151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CL" sz="1200" u="none" cap="none" strike="noStrik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rPr>
              <a:t>‹#›</a:t>
            </a:fld>
            <a:endParaRPr b="0" i="0" sz="1200" u="none" cap="none" strike="noStrike">
              <a:solidFill>
                <a:srgbClr val="6C7A8A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 1">
  <p:cSld name="Título y objetos 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1"/>
          <p:cNvSpPr/>
          <p:nvPr/>
        </p:nvSpPr>
        <p:spPr>
          <a:xfrm>
            <a:off x="1372975" y="212725"/>
            <a:ext cx="4806374" cy="813000"/>
          </a:xfrm>
          <a:prstGeom prst="parallelogram">
            <a:avLst>
              <a:gd fmla="val 4531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31" name="Google Shape;31;p21"/>
          <p:cNvSpPr/>
          <p:nvPr/>
        </p:nvSpPr>
        <p:spPr>
          <a:xfrm>
            <a:off x="770850" y="212725"/>
            <a:ext cx="903600" cy="813000"/>
          </a:xfrm>
          <a:prstGeom prst="parallelogram">
            <a:avLst>
              <a:gd fmla="val 45310" name="adj"/>
            </a:avLst>
          </a:prstGeom>
          <a:solidFill>
            <a:srgbClr val="8189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21"/>
          <p:cNvSpPr/>
          <p:nvPr/>
        </p:nvSpPr>
        <p:spPr>
          <a:xfrm>
            <a:off x="146422" y="212725"/>
            <a:ext cx="903600" cy="813000"/>
          </a:xfrm>
          <a:prstGeom prst="parallelogram">
            <a:avLst>
              <a:gd fmla="val 45310" name="adj"/>
            </a:avLst>
          </a:prstGeom>
          <a:gradFill>
            <a:gsLst>
              <a:gs pos="0">
                <a:srgbClr val="FFFFFF"/>
              </a:gs>
              <a:gs pos="65000">
                <a:schemeClr val="dk2"/>
              </a:gs>
              <a:gs pos="100000">
                <a:schemeClr val="dk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1"/>
          <p:cNvSpPr txBox="1"/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pic>
        <p:nvPicPr>
          <p:cNvPr id="34" name="Google Shape;34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79349" y="389413"/>
            <a:ext cx="2746703" cy="459625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21"/>
          <p:cNvSpPr txBox="1"/>
          <p:nvPr>
            <p:ph idx="1" type="body"/>
          </p:nvPr>
        </p:nvSpPr>
        <p:spPr>
          <a:xfrm>
            <a:off x="294150" y="1218600"/>
            <a:ext cx="8555700" cy="51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  <a:defRPr i="0" sz="2400" u="none" cap="none" strike="noStrike">
                <a:solidFill>
                  <a:srgbClr val="81899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ranklin Gothic"/>
              <a:buChar char="•"/>
              <a:defRPr i="0" sz="2000" u="none" cap="none" strike="noStrik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indent="-3429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lin Gothic"/>
              <a:buChar char="○"/>
              <a:defRPr i="0" sz="18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indent="-3302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ranklin Gothic"/>
              <a:buChar char="•"/>
              <a:defRPr i="0" sz="1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ranklin Gothic"/>
              <a:buChar char="•"/>
              <a:defRPr i="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indent="-3048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Franklin Gothic"/>
              <a:buChar char="•"/>
              <a:defRPr i="0" sz="12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indent="-2921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ranklin Gothic"/>
              <a:buChar char="•"/>
              <a:defRPr i="0" sz="10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indent="-2794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Franklin Gothic"/>
              <a:buChar char="•"/>
              <a:defRPr i="0" sz="8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indent="-2667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600"/>
              <a:buFont typeface="Franklin Gothic"/>
              <a:buChar char="•"/>
              <a:defRPr i="0" sz="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/>
        </p:txBody>
      </p:sp>
      <p:sp>
        <p:nvSpPr>
          <p:cNvPr id="36" name="Google Shape;36;p21"/>
          <p:cNvSpPr txBox="1"/>
          <p:nvPr/>
        </p:nvSpPr>
        <p:spPr>
          <a:xfrm>
            <a:off x="69151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CL" sz="1200" u="none" cap="none" strike="noStrik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rPr>
              <a:t>‹#›</a:t>
            </a:fld>
            <a:endParaRPr b="0" i="0" sz="1200" u="none" cap="none" strike="noStrike">
              <a:solidFill>
                <a:srgbClr val="6C7A8A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bg>
      <p:bgPr>
        <a:solidFill>
          <a:schemeClr val="dk2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2"/>
          <p:cNvSpPr txBox="1"/>
          <p:nvPr>
            <p:ph idx="1" type="body"/>
          </p:nvPr>
        </p:nvSpPr>
        <p:spPr>
          <a:xfrm>
            <a:off x="560387" y="2634922"/>
            <a:ext cx="8023225" cy="227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0000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○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5pPr>
            <a:lvl6pPr indent="-3048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6pPr>
            <a:lvl7pPr indent="-2921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/>
            </a:lvl7pPr>
            <a:lvl8pPr indent="-2794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Char char="•"/>
              <a:defRPr/>
            </a:lvl8pPr>
            <a:lvl9pPr indent="-2667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600"/>
              <a:buChar char="•"/>
              <a:defRPr/>
            </a:lvl9pPr>
          </a:lstStyle>
          <a:p/>
        </p:txBody>
      </p:sp>
      <p:pic>
        <p:nvPicPr>
          <p:cNvPr id="39" name="Google Shape;39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79349" y="392750"/>
            <a:ext cx="2759037" cy="459625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22"/>
          <p:cNvSpPr txBox="1"/>
          <p:nvPr>
            <p:ph idx="2" type="body"/>
          </p:nvPr>
        </p:nvSpPr>
        <p:spPr>
          <a:xfrm>
            <a:off x="560387" y="1632286"/>
            <a:ext cx="8023225" cy="6657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0000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○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5pPr>
            <a:lvl6pPr indent="-3048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6pPr>
            <a:lvl7pPr indent="-2921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/>
            </a:lvl7pPr>
            <a:lvl8pPr indent="-2794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Char char="•"/>
              <a:defRPr/>
            </a:lvl8pPr>
            <a:lvl9pPr indent="-2667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600"/>
              <a:buChar char="•"/>
              <a:defRPr/>
            </a:lvl9pPr>
          </a:lstStyle>
          <a:p/>
        </p:txBody>
      </p:sp>
      <p:sp>
        <p:nvSpPr>
          <p:cNvPr id="41" name="Google Shape;41;p22"/>
          <p:cNvSpPr/>
          <p:nvPr/>
        </p:nvSpPr>
        <p:spPr>
          <a:xfrm>
            <a:off x="770850" y="212725"/>
            <a:ext cx="903600" cy="813000"/>
          </a:xfrm>
          <a:prstGeom prst="parallelogram">
            <a:avLst>
              <a:gd fmla="val 4531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2"/>
          <p:cNvSpPr/>
          <p:nvPr/>
        </p:nvSpPr>
        <p:spPr>
          <a:xfrm>
            <a:off x="146422" y="212725"/>
            <a:ext cx="903600" cy="813000"/>
          </a:xfrm>
          <a:prstGeom prst="parallelogram">
            <a:avLst>
              <a:gd fmla="val 45310" name="adj"/>
            </a:avLst>
          </a:prstGeom>
          <a:gradFill>
            <a:gsLst>
              <a:gs pos="0">
                <a:schemeClr val="dk2"/>
              </a:gs>
              <a:gs pos="65000">
                <a:schemeClr val="lt1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2"/>
          <p:cNvSpPr/>
          <p:nvPr/>
        </p:nvSpPr>
        <p:spPr>
          <a:xfrm>
            <a:off x="1372975" y="212725"/>
            <a:ext cx="4806374" cy="813000"/>
          </a:xfrm>
          <a:prstGeom prst="parallelogram">
            <a:avLst>
              <a:gd fmla="val 4531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Bebas Neue"/>
              <a:ea typeface="Bebas Neue"/>
              <a:cs typeface="Bebas Neue"/>
              <a:sym typeface="Bebas Neue"/>
            </a:endParaRPr>
          </a:p>
        </p:txBody>
      </p:sp>
      <p:sp>
        <p:nvSpPr>
          <p:cNvPr id="44" name="Google Shape;44;p22"/>
          <p:cNvSpPr txBox="1"/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  <a:defRPr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3"/>
          <p:cNvSpPr txBox="1"/>
          <p:nvPr/>
        </p:nvSpPr>
        <p:spPr>
          <a:xfrm>
            <a:off x="69151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CL" sz="1200" u="none" cap="none" strike="noStrike">
                <a:solidFill>
                  <a:srgbClr val="6C7A8A"/>
                </a:solidFill>
                <a:latin typeface="Roboto Mono"/>
                <a:ea typeface="Roboto Mono"/>
                <a:cs typeface="Roboto Mono"/>
                <a:sym typeface="Roboto Mono"/>
              </a:rPr>
              <a:t>‹#›</a:t>
            </a:fld>
            <a:endParaRPr b="0" i="0" sz="1200" u="none" cap="none" strike="noStrike">
              <a:solidFill>
                <a:srgbClr val="6C7A8A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ólo el título">
  <p:cSld name="1_Sólo el título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-B.png" id="48" name="Google Shape;48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760483" y="6287016"/>
            <a:ext cx="1687458" cy="377364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24"/>
          <p:cNvSpPr/>
          <p:nvPr/>
        </p:nvSpPr>
        <p:spPr>
          <a:xfrm>
            <a:off x="586828" y="385379"/>
            <a:ext cx="8084206" cy="700690"/>
          </a:xfrm>
          <a:prstGeom prst="rect">
            <a:avLst/>
          </a:prstGeom>
          <a:solidFill>
            <a:srgbClr val="4A216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4"/>
          <p:cNvSpPr/>
          <p:nvPr/>
        </p:nvSpPr>
        <p:spPr>
          <a:xfrm>
            <a:off x="4117848" y="297797"/>
            <a:ext cx="1156138" cy="166414"/>
          </a:xfrm>
          <a:prstGeom prst="rect">
            <a:avLst/>
          </a:prstGeom>
          <a:solidFill>
            <a:srgbClr val="4A2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4"/>
          <p:cNvSpPr/>
          <p:nvPr/>
        </p:nvSpPr>
        <p:spPr>
          <a:xfrm>
            <a:off x="5264579" y="297797"/>
            <a:ext cx="1156138" cy="166414"/>
          </a:xfrm>
          <a:prstGeom prst="rect">
            <a:avLst/>
          </a:prstGeom>
          <a:solidFill>
            <a:srgbClr val="5A357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24"/>
          <p:cNvSpPr/>
          <p:nvPr/>
        </p:nvSpPr>
        <p:spPr>
          <a:xfrm>
            <a:off x="6411310" y="297797"/>
            <a:ext cx="1156138" cy="166414"/>
          </a:xfrm>
          <a:prstGeom prst="rect">
            <a:avLst/>
          </a:prstGeom>
          <a:solidFill>
            <a:srgbClr val="6D4E8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4"/>
          <p:cNvSpPr/>
          <p:nvPr/>
        </p:nvSpPr>
        <p:spPr>
          <a:xfrm>
            <a:off x="7514896" y="297797"/>
            <a:ext cx="1156138" cy="166414"/>
          </a:xfrm>
          <a:prstGeom prst="rect">
            <a:avLst/>
          </a:prstGeom>
          <a:solidFill>
            <a:srgbClr val="7D669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.jpg" id="54" name="Google Shape;5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6828" y="6225296"/>
            <a:ext cx="1992643" cy="446269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»"/>
              <a:defRPr/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○"/>
              <a:defRPr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5pPr>
            <a:lvl6pPr indent="-3048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6pPr>
            <a:lvl7pPr indent="-2921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Char char="•"/>
              <a:defRPr/>
            </a:lvl7pPr>
            <a:lvl8pPr indent="-2794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Char char="•"/>
              <a:defRPr/>
            </a:lvl8pPr>
            <a:lvl9pPr indent="-2667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6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idx="1" type="body"/>
          </p:nvPr>
        </p:nvSpPr>
        <p:spPr>
          <a:xfrm>
            <a:off x="294150" y="1218600"/>
            <a:ext cx="8555700" cy="51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Char char="»"/>
              <a:defRPr b="0" i="0" sz="2400" u="none" cap="none" strike="noStrik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ranklin Gothic"/>
              <a:buChar char="•"/>
              <a:defRPr b="0" i="0" sz="2000" u="none" cap="none" strike="noStrike">
                <a:solidFill>
                  <a:srgbClr val="81899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Franklin Gothic"/>
              <a:buChar char="○"/>
              <a:defRPr b="0" i="0" sz="18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Franklin Gothic"/>
              <a:buChar char="•"/>
              <a:defRPr b="0" i="0" sz="1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ranklin Gothic"/>
              <a:buChar char="•"/>
              <a:defRPr b="0" i="0" sz="14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5pPr>
            <a:lvl6pPr indent="-3048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Franklin Gothic"/>
              <a:buChar char="•"/>
              <a:defRPr b="0" i="0" sz="12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6pPr>
            <a:lvl7pPr indent="-2921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Franklin Gothic"/>
              <a:buChar char="•"/>
              <a:defRPr b="0" i="0" sz="10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7pPr>
            <a:lvl8pPr indent="-2794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Franklin Gothic"/>
              <a:buChar char="•"/>
              <a:defRPr b="0" i="0" sz="8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8pPr>
            <a:lvl9pPr indent="-2667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600"/>
              <a:buFont typeface="Franklin Gothic"/>
              <a:buChar char="•"/>
              <a:defRPr b="0" i="0" sz="600" u="none" cap="none" strike="noStrike">
                <a:solidFill>
                  <a:schemeClr val="dk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9pPr>
          </a:lstStyle>
          <a:p/>
        </p:txBody>
      </p:sp>
      <p:sp>
        <p:nvSpPr>
          <p:cNvPr id="7" name="Google Shape;7;p17"/>
          <p:cNvSpPr txBox="1"/>
          <p:nvPr>
            <p:ph idx="12" type="sldNum"/>
          </p:nvPr>
        </p:nvSpPr>
        <p:spPr>
          <a:xfrm>
            <a:off x="6915150" y="635635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C7A8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sp>
        <p:nvSpPr>
          <p:cNvPr id="8" name="Google Shape;8;p17"/>
          <p:cNvSpPr txBox="1"/>
          <p:nvPr>
            <p:ph type="title"/>
          </p:nvPr>
        </p:nvSpPr>
        <p:spPr>
          <a:xfrm>
            <a:off x="1763700" y="212725"/>
            <a:ext cx="6751800" cy="8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 Condensed"/>
              <a:buNone/>
              <a:defRPr b="0" i="0" sz="3000" u="none" cap="none" strike="noStrik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"/>
          <p:cNvSpPr txBox="1"/>
          <p:nvPr>
            <p:ph type="title"/>
          </p:nvPr>
        </p:nvSpPr>
        <p:spPr>
          <a:xfrm>
            <a:off x="4148520" y="3365767"/>
            <a:ext cx="4894800" cy="2891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br>
              <a:rPr lang="es-CL" sz="4000"/>
            </a:br>
            <a:br>
              <a:rPr lang="es-CL" sz="4000"/>
            </a:br>
            <a:r>
              <a:rPr b="1" lang="es-CL" sz="2000"/>
              <a:t>Cuerpo y Alma: Sistema Web Integral para la Gestión Administrativa, Control de Membresías, Reservas y Asistencia</a:t>
            </a:r>
            <a:br>
              <a:rPr lang="es-CL" sz="4000"/>
            </a:br>
            <a:br>
              <a:rPr lang="es-CL" sz="4000"/>
            </a:br>
            <a:br>
              <a:rPr lang="es-CL" sz="2000"/>
            </a:br>
            <a:r>
              <a:rPr b="1" lang="es-CL" sz="2000"/>
              <a:t>Docente:</a:t>
            </a:r>
            <a:r>
              <a:rPr lang="es-CL" sz="2000"/>
              <a:t>Reginaldo Salinas Bruna</a:t>
            </a:r>
            <a:br>
              <a:rPr lang="es-CL" sz="2000"/>
            </a:br>
            <a:r>
              <a:rPr lang="es-CL" sz="2000"/>
              <a:t>Grupo Nº4:</a:t>
            </a:r>
            <a:br>
              <a:rPr lang="es-CL" sz="2000"/>
            </a:br>
            <a:r>
              <a:rPr lang="es-CL" sz="2000"/>
              <a:t>Integrantes:</a:t>
            </a:r>
            <a:br>
              <a:rPr lang="es-CL" sz="2000"/>
            </a:br>
            <a:r>
              <a:rPr lang="es-CL" sz="2000"/>
              <a:t>Manuel Campos</a:t>
            </a:r>
            <a:br>
              <a:rPr lang="es-CL" sz="2000"/>
            </a:br>
            <a:r>
              <a:rPr lang="es-CL" sz="2000"/>
              <a:t>Benjamin Garcia</a:t>
            </a:r>
            <a:br>
              <a:rPr lang="es-CL" sz="2000"/>
            </a:br>
            <a:r>
              <a:rPr lang="es-CL" sz="2000"/>
              <a:t>Jose Rivera</a:t>
            </a:r>
            <a:endParaRPr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"/>
          <p:cNvSpPr txBox="1"/>
          <p:nvPr>
            <p:ph type="title"/>
          </p:nvPr>
        </p:nvSpPr>
        <p:spPr>
          <a:xfrm>
            <a:off x="3004575" y="3476150"/>
            <a:ext cx="5995800" cy="1603200"/>
          </a:xfrm>
          <a:prstGeom prst="rect">
            <a:avLst/>
          </a:prstGeom>
          <a:solidFill>
            <a:srgbClr val="DE3075">
              <a:alpha val="64314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CL" sz="5400">
                <a:latin typeface="Calibri"/>
                <a:ea typeface="Calibri"/>
                <a:cs typeface="Calibri"/>
                <a:sym typeface="Calibri"/>
              </a:rPr>
              <a:t>Descripción breve del proyecto APT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"/>
          <p:cNvSpPr txBox="1"/>
          <p:nvPr>
            <p:ph idx="1" type="body"/>
          </p:nvPr>
        </p:nvSpPr>
        <p:spPr>
          <a:xfrm>
            <a:off x="294150" y="1218600"/>
            <a:ext cx="8555700" cy="51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»"/>
            </a:pPr>
            <a:r>
              <a:rPr b="1" lang="es-CL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Contexto y Problemática: </a:t>
            </a:r>
            <a:r>
              <a:rPr lang="es-CL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Academia de Pole Dance (~85 alumnos en Maipú/Cerrillos) con gestión manual fragmentada en Excel y encuestas diarias por WhatsApp. </a:t>
            </a:r>
            <a:endParaRPr/>
          </a:p>
          <a:p>
            <a:pPr indent="0" lvl="0" marL="50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»"/>
            </a:pPr>
            <a:r>
              <a:rPr b="1" lang="es-CL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Solución Propuesta: </a:t>
            </a:r>
            <a:r>
              <a:rPr lang="es-CL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Sistema web centralizado con tres perfiles (Administrador, Profesor, Alumno) para automatizar membresías, reservas y validación de asistencia vía código QR.</a:t>
            </a:r>
            <a:endParaRPr/>
          </a:p>
          <a:p>
            <a:pPr indent="0" lvl="0" marL="50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b="1" lang="es-CL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»"/>
            </a:pPr>
            <a:r>
              <a:rPr b="1" lang="es-CL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Reglas Clave: </a:t>
            </a:r>
            <a:r>
              <a:rPr lang="es-CL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 estricto de cupos (máximo 8 alumnos por clase) y bloqueo automático de reservas ante pagos pendientes. </a:t>
            </a:r>
            <a:endParaRPr/>
          </a:p>
          <a:p>
            <a:pPr indent="0" lvl="0" marL="50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 txBox="1"/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s-CL"/>
              <a:t>Descripción del proyecto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"/>
          <p:cNvSpPr txBox="1"/>
          <p:nvPr>
            <p:ph type="title"/>
          </p:nvPr>
        </p:nvSpPr>
        <p:spPr>
          <a:xfrm>
            <a:off x="3004575" y="3476150"/>
            <a:ext cx="5995800" cy="1603200"/>
          </a:xfrm>
          <a:prstGeom prst="rect">
            <a:avLst/>
          </a:prstGeom>
          <a:solidFill>
            <a:srgbClr val="DE3075">
              <a:alpha val="64314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CL" sz="5400">
                <a:latin typeface="Calibri"/>
                <a:ea typeface="Calibri"/>
                <a:cs typeface="Calibri"/>
                <a:sym typeface="Calibri"/>
              </a:rPr>
              <a:t>Relación con el perfil de egreso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"/>
          <p:cNvSpPr txBox="1"/>
          <p:nvPr>
            <p:ph idx="1" type="body"/>
          </p:nvPr>
        </p:nvSpPr>
        <p:spPr>
          <a:xfrm>
            <a:off x="294150" y="1218600"/>
            <a:ext cx="8555700" cy="51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b="1" lang="es-CL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Áreas de Desempeño Aplicadas: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b="1" i="1" lang="es-CL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Ingeniería de Software:</a:t>
            </a:r>
            <a:r>
              <a:rPr b="1" lang="es-CL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CL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Arquitectura por capas y desarrollo web responsivo.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b="1" i="1" lang="es-CL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Gestión y Arquitectura de Datos:</a:t>
            </a:r>
            <a:r>
              <a:rPr b="1" lang="es-CL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CL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Modelamiento relacional normalizado (DER) e integridad de datos.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b="1" i="1" lang="es-CL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Gestión TI y Seguridad:</a:t>
            </a:r>
            <a:r>
              <a:rPr b="1" lang="es-CL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CL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Ciberseguridad por roles (RBAC), control de calidad (QA) y continuidad operacional. </a:t>
            </a:r>
            <a:endParaRPr/>
          </a:p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None/>
            </a:pPr>
            <a:r>
              <a:t/>
            </a:r>
            <a:endParaRPr/>
          </a:p>
        </p:txBody>
      </p:sp>
      <p:sp>
        <p:nvSpPr>
          <p:cNvPr id="82" name="Google Shape;82;p5"/>
          <p:cNvSpPr txBox="1"/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s-CL"/>
              <a:t>Relación con Perfil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"/>
          <p:cNvSpPr txBox="1"/>
          <p:nvPr>
            <p:ph type="title"/>
          </p:nvPr>
        </p:nvSpPr>
        <p:spPr>
          <a:xfrm>
            <a:off x="3004575" y="3476150"/>
            <a:ext cx="5995800" cy="1603200"/>
          </a:xfrm>
          <a:prstGeom prst="rect">
            <a:avLst/>
          </a:prstGeom>
          <a:solidFill>
            <a:srgbClr val="DE3075">
              <a:alpha val="64314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CL" sz="5400">
                <a:latin typeface="Calibri"/>
                <a:ea typeface="Calibri"/>
                <a:cs typeface="Calibri"/>
                <a:sym typeface="Calibri"/>
              </a:rPr>
              <a:t>Factibilidad del proyecto en la asignatura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7"/>
          <p:cNvSpPr txBox="1"/>
          <p:nvPr>
            <p:ph idx="1" type="body"/>
          </p:nvPr>
        </p:nvSpPr>
        <p:spPr>
          <a:xfrm>
            <a:off x="294150" y="1218600"/>
            <a:ext cx="8555700" cy="51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»"/>
            </a:pPr>
            <a:r>
              <a:rPr b="1" lang="es-CL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Temporal: </a:t>
            </a:r>
            <a:r>
              <a:rPr lang="es-CL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18 semanas de ejecución divididas en 3 fases mediante ciclos Scrum de 2 semanas. </a:t>
            </a:r>
            <a:endParaRPr/>
          </a:p>
          <a:p>
            <a:pPr indent="0" lvl="0" marL="50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»"/>
            </a:pPr>
            <a:r>
              <a:rPr b="1" lang="es-CL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Técnica: </a:t>
            </a:r>
            <a:r>
              <a:rPr lang="es-CL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Stack de código abierto (VS Code, Git/GitHub) y servicios cloud en capa gratuita (Vercel). </a:t>
            </a:r>
            <a:endParaRPr/>
          </a:p>
          <a:p>
            <a:pPr indent="0" lvl="0" marL="50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»"/>
            </a:pPr>
            <a:r>
              <a:rPr b="1" lang="es-CL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Operativa: </a:t>
            </a:r>
            <a:r>
              <a:rPr lang="es-CL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Disposición total del cliente real para levantamiento y pruebas directas en sede. </a:t>
            </a:r>
            <a:endParaRPr/>
          </a:p>
          <a:p>
            <a:pPr indent="0" lvl="0" marL="50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»"/>
            </a:pPr>
            <a:r>
              <a:rPr b="1" lang="es-CL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Mitigación de Riesgos: </a:t>
            </a:r>
            <a:r>
              <a:rPr lang="es-CL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Reuniones quincenales asíncronas, diseño UX/UI accesible para reducir la brecha digital y contingencia manual ante fallas de red. </a:t>
            </a:r>
            <a:endParaRPr/>
          </a:p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None/>
            </a:pPr>
            <a:r>
              <a:t/>
            </a:r>
            <a:endParaRPr/>
          </a:p>
        </p:txBody>
      </p:sp>
      <p:sp>
        <p:nvSpPr>
          <p:cNvPr id="93" name="Google Shape;93;p7"/>
          <p:cNvSpPr txBox="1"/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s-CL"/>
              <a:t>Factibilidad del Proyecto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8"/>
          <p:cNvSpPr txBox="1"/>
          <p:nvPr>
            <p:ph type="title"/>
          </p:nvPr>
        </p:nvSpPr>
        <p:spPr>
          <a:xfrm>
            <a:off x="3004575" y="3476150"/>
            <a:ext cx="5995800" cy="1603200"/>
          </a:xfrm>
          <a:prstGeom prst="rect">
            <a:avLst/>
          </a:prstGeom>
          <a:solidFill>
            <a:srgbClr val="DE3075">
              <a:alpha val="64314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CL" sz="5400">
                <a:latin typeface="Calibri"/>
                <a:ea typeface="Calibri"/>
                <a:cs typeface="Calibri"/>
                <a:sym typeface="Calibri"/>
              </a:rPr>
              <a:t>Objetivos del proyecto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9"/>
          <p:cNvSpPr txBox="1"/>
          <p:nvPr>
            <p:ph idx="1" type="body"/>
          </p:nvPr>
        </p:nvSpPr>
        <p:spPr>
          <a:xfrm>
            <a:off x="294150" y="1218600"/>
            <a:ext cx="8555700" cy="51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»"/>
            </a:pPr>
            <a:r>
              <a:rPr b="1" lang="es-CL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Objetivo General: </a:t>
            </a:r>
            <a:r>
              <a:rPr lang="es-CL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Desarrollar e implementar una plataforma web integral que optimice la gestión operativa, reservas, pagos y asistencia de la academia. </a:t>
            </a:r>
            <a:endParaRPr/>
          </a:p>
          <a:p>
            <a:pPr indent="0" lvl="0" marL="50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»"/>
            </a:pPr>
            <a:r>
              <a:rPr b="1" lang="es-CL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Objetivos Específicos:</a:t>
            </a:r>
            <a:endParaRPr/>
          </a:p>
          <a:p>
            <a:pPr indent="-3810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s-CL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Implementar autenticación y perfiles diferenciados (Admin, Profesor, Alumno). </a:t>
            </a:r>
            <a:endParaRPr/>
          </a:p>
          <a:p>
            <a:pPr indent="-3810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s-CL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Automatizar calendario de reservas con límite de 8 cupos y liberación por cancelación. </a:t>
            </a:r>
            <a:endParaRPr/>
          </a:p>
          <a:p>
            <a:pPr indent="-3810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s-CL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Gestionar membresías, estados de pago y alertas automáticas de vencimiento. </a:t>
            </a:r>
            <a:endParaRPr/>
          </a:p>
          <a:p>
            <a:pPr indent="-3810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s-CL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Validar asistencia presencial mediante lectura de códigos QR. </a:t>
            </a:r>
            <a:endParaRPr/>
          </a:p>
          <a:p>
            <a:pPr indent="0" lvl="0" marL="50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04" name="Google Shape;104;p9"/>
          <p:cNvSpPr txBox="1"/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s-CL"/>
              <a:t>Objetivos del Proyecto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0"/>
          <p:cNvSpPr txBox="1"/>
          <p:nvPr>
            <p:ph type="title"/>
          </p:nvPr>
        </p:nvSpPr>
        <p:spPr>
          <a:xfrm>
            <a:off x="3004575" y="3476150"/>
            <a:ext cx="5995800" cy="1603200"/>
          </a:xfrm>
          <a:prstGeom prst="rect">
            <a:avLst/>
          </a:prstGeom>
          <a:solidFill>
            <a:srgbClr val="DE3075">
              <a:alpha val="64314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CL" sz="5400">
                <a:latin typeface="Calibri"/>
                <a:ea typeface="Calibri"/>
                <a:cs typeface="Calibri"/>
                <a:sym typeface="Calibri"/>
              </a:rPr>
              <a:t>Metodología de trabajo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1"/>
          <p:cNvSpPr txBox="1"/>
          <p:nvPr>
            <p:ph idx="1" type="body"/>
          </p:nvPr>
        </p:nvSpPr>
        <p:spPr>
          <a:xfrm>
            <a:off x="294150" y="1218600"/>
            <a:ext cx="8555700" cy="51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»"/>
            </a:pPr>
            <a:r>
              <a:rPr b="1" lang="es-CL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Marco de Trabajo: </a:t>
            </a:r>
            <a:r>
              <a:rPr lang="es-CL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Scrum (Sprints quincenales con ceremonias de Planning, Daily, Review y Retrospectiva).</a:t>
            </a:r>
            <a:r>
              <a:rPr b="1" lang="es-CL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50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»"/>
            </a:pPr>
            <a:r>
              <a:rPr b="1" lang="es-CL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Roles del Equipo:</a:t>
            </a:r>
            <a:endParaRPr/>
          </a:p>
          <a:p>
            <a:pPr indent="-3810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b="1" i="1" lang="es-CL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Benjamín García:</a:t>
            </a:r>
            <a:r>
              <a:rPr b="1" lang="es-CL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CL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Product Owner / Frontend UI-UX (Historias de usuario, prototipado Figma y vistas web). </a:t>
            </a:r>
            <a:endParaRPr/>
          </a:p>
          <a:p>
            <a:pPr indent="-3810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b="1" i="1" lang="es-CL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José Rivera:</a:t>
            </a:r>
            <a:r>
              <a:rPr b="1" lang="es-CL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CL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Backend Developer / QA &amp; Seguridad (API REST, base de datos relacional y pruebas). </a:t>
            </a:r>
            <a:endParaRPr/>
          </a:p>
          <a:p>
            <a:pPr indent="-3810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b="1" i="1" lang="es-CL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Manuel Campos:</a:t>
            </a:r>
            <a:r>
              <a:rPr b="1" lang="es-CL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CL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Soporte TI &amp; Continuidad Operacional (Infraestructura cloud, despliegues, planes de contingencia y manuales). </a:t>
            </a:r>
            <a:endParaRPr/>
          </a:p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None/>
            </a:pPr>
            <a:r>
              <a:t/>
            </a:r>
            <a:endParaRPr/>
          </a:p>
        </p:txBody>
      </p:sp>
      <p:sp>
        <p:nvSpPr>
          <p:cNvPr id="115" name="Google Shape;115;p11"/>
          <p:cNvSpPr txBox="1"/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s-CL"/>
              <a:t>Metodologías del Proyecto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2"/>
          <p:cNvSpPr txBox="1"/>
          <p:nvPr>
            <p:ph type="title"/>
          </p:nvPr>
        </p:nvSpPr>
        <p:spPr>
          <a:xfrm>
            <a:off x="3004575" y="3476150"/>
            <a:ext cx="5995800" cy="1603200"/>
          </a:xfrm>
          <a:prstGeom prst="rect">
            <a:avLst/>
          </a:prstGeom>
          <a:solidFill>
            <a:srgbClr val="DE3075">
              <a:alpha val="64314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CL" sz="5400">
                <a:latin typeface="Calibri"/>
                <a:ea typeface="Calibri"/>
                <a:cs typeface="Calibri"/>
                <a:sym typeface="Calibri"/>
              </a:rPr>
              <a:t>Plan de trabajo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3"/>
          <p:cNvSpPr txBox="1"/>
          <p:nvPr>
            <p:ph idx="1" type="body"/>
          </p:nvPr>
        </p:nvSpPr>
        <p:spPr>
          <a:xfrm>
            <a:off x="294150" y="1218600"/>
            <a:ext cx="8555700" cy="51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»"/>
            </a:pPr>
            <a:r>
              <a:rPr b="1" lang="es-CL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Fase 1 (Semanas 1 a 4):</a:t>
            </a:r>
            <a:r>
              <a:rPr lang="es-CL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Levantamiento de requerimientos, diseño de arquitectura, base de datos y prototipos UX/UI en Figma.</a:t>
            </a:r>
            <a:endParaRPr/>
          </a:p>
          <a:p>
            <a:pPr indent="0" lvl="0" marL="50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»"/>
            </a:pPr>
            <a:r>
              <a:rPr b="1" lang="es-CL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Fase 2 (Semanas 5 a 15):</a:t>
            </a:r>
            <a:r>
              <a:rPr lang="es-CL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Desarrollo por Sprints (Auth, Reservas/Cupos, Pagos/Membresías, Lector QR, QA y Despliegue Cloud). </a:t>
            </a:r>
            <a:endParaRPr/>
          </a:p>
          <a:p>
            <a:pPr indent="0" lvl="0" marL="50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»"/>
            </a:pPr>
            <a:r>
              <a:rPr b="1" lang="es-CL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Fase 3 (Semanas 16 a 18):</a:t>
            </a:r>
            <a:r>
              <a:rPr lang="es-CL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Marcha blanca en academia, resolución de incidencias, documentación y defensa final.</a:t>
            </a:r>
            <a:endParaRPr/>
          </a:p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None/>
            </a:pPr>
            <a:r>
              <a:t/>
            </a:r>
            <a:endParaRPr/>
          </a:p>
        </p:txBody>
      </p:sp>
      <p:sp>
        <p:nvSpPr>
          <p:cNvPr id="126" name="Google Shape;126;p13"/>
          <p:cNvSpPr txBox="1"/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s-CL"/>
              <a:t>Plan del Proyecto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4"/>
          <p:cNvSpPr txBox="1"/>
          <p:nvPr>
            <p:ph type="title"/>
          </p:nvPr>
        </p:nvSpPr>
        <p:spPr>
          <a:xfrm>
            <a:off x="3004575" y="3476150"/>
            <a:ext cx="5995800" cy="1603200"/>
          </a:xfrm>
          <a:prstGeom prst="rect">
            <a:avLst/>
          </a:prstGeom>
          <a:solidFill>
            <a:srgbClr val="DE3075">
              <a:alpha val="64314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CL" sz="5400">
                <a:latin typeface="Calibri"/>
                <a:ea typeface="Calibri"/>
                <a:cs typeface="Calibri"/>
                <a:sym typeface="Calibri"/>
              </a:rPr>
              <a:t>Evidencias esperadas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5"/>
          <p:cNvSpPr txBox="1"/>
          <p:nvPr>
            <p:ph type="title"/>
          </p:nvPr>
        </p:nvSpPr>
        <p:spPr>
          <a:xfrm>
            <a:off x="1763699" y="212725"/>
            <a:ext cx="4288185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18990"/>
              </a:buClr>
              <a:buSzPts val="1800"/>
              <a:buNone/>
            </a:pPr>
            <a:r>
              <a:rPr lang="es-CL"/>
              <a:t>Evidencias Esperadas del Proyecto</a:t>
            </a:r>
            <a:endParaRPr/>
          </a:p>
        </p:txBody>
      </p:sp>
      <p:graphicFrame>
        <p:nvGraphicFramePr>
          <p:cNvPr id="137" name="Google Shape;137;p15"/>
          <p:cNvGraphicFramePr/>
          <p:nvPr/>
        </p:nvGraphicFramePr>
        <p:xfrm>
          <a:off x="436797" y="160706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{F89892BB-5511-4F67-A7E1-3D6C52FF944B}</a:tableStyleId>
              </a:tblPr>
              <a:tblGrid>
                <a:gridCol w="2109325"/>
                <a:gridCol w="4128325"/>
                <a:gridCol w="2109325"/>
              </a:tblGrid>
              <a:tr h="711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400" u="none" cap="none" strike="noStrike"/>
                        <a:t>Tipo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400" u="none" cap="none" strike="noStrike"/>
                        <a:t>Entregable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400" u="none" cap="none" strike="noStrike"/>
                        <a:t>Aporte o Justificación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100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400" u="none" cap="none" strike="noStrike"/>
                        <a:t>Avance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400" u="none" cap="none" strike="noStrike"/>
                        <a:t>Documento de Requerimientos y Casos de Uso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400" u="none" cap="none" strike="noStrike"/>
                        <a:t>Valida reglas de negocio con el cliente real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711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400" u="none" cap="none" strike="noStrike"/>
                        <a:t>Avance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400" u="none" cap="none" strike="noStrike"/>
                        <a:t>Prototipos UX/UI (Figma) y Modelo DER 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400" u="none" cap="none" strike="noStrike"/>
                        <a:t>Cimientos visuales y de datos normalizados. 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711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400" u="none" cap="none" strike="noStrike"/>
                        <a:t>Final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400" u="none" cap="none" strike="noStrike"/>
                        <a:t>Software Desplegado en Producción 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400" u="none" cap="none" strike="noStrike"/>
                        <a:t>Sistema web funcional con QR y pagos. 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1004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400" u="none" cap="none" strike="noStrike"/>
                        <a:t>Final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400" u="none" cap="none" strike="noStrike"/>
                        <a:t>Informe QA, Seguridad y Manual de Soporte 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400" u="none" cap="none" strike="noStrike"/>
                        <a:t>Certifica estabilidad, seguridad y adopción del usuario. 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6"/>
          <p:cNvSpPr txBox="1"/>
          <p:nvPr>
            <p:ph type="title"/>
          </p:nvPr>
        </p:nvSpPr>
        <p:spPr>
          <a:xfrm>
            <a:off x="3004575" y="3476149"/>
            <a:ext cx="5995800" cy="2459429"/>
          </a:xfrm>
          <a:prstGeom prst="rect">
            <a:avLst/>
          </a:prstGeom>
          <a:solidFill>
            <a:srgbClr val="DE3075">
              <a:alpha val="64314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br>
              <a:rPr lang="es-CL"/>
            </a:br>
            <a:r>
              <a:rPr lang="es-CL"/>
              <a:t>Preguntas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DUOC 2">
      <a:dk1>
        <a:srgbClr val="172740"/>
      </a:dk1>
      <a:lt1>
        <a:srgbClr val="FFFFFF"/>
      </a:lt1>
      <a:dk2>
        <a:srgbClr val="81888F"/>
      </a:dk2>
      <a:lt2>
        <a:srgbClr val="FBC842"/>
      </a:lt2>
      <a:accent1>
        <a:srgbClr val="DE3075"/>
      </a:accent1>
      <a:accent2>
        <a:srgbClr val="702785"/>
      </a:accent2>
      <a:accent3>
        <a:srgbClr val="BDD503"/>
      </a:accent3>
      <a:accent4>
        <a:srgbClr val="00A0DE"/>
      </a:accent4>
      <a:accent5>
        <a:srgbClr val="FA742C"/>
      </a:accent5>
      <a:accent6>
        <a:srgbClr val="AE0F0F"/>
      </a:accent6>
      <a:hlink>
        <a:srgbClr val="723714"/>
      </a:hlink>
      <a:folHlink>
        <a:srgbClr val="6B79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2020-01-19T17:40:32Z</dcterms:created>
  <dc:creator>Victor Rodrigo Galaz Silva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0x0101006A490DE1D59CF8418FDA5A26334C9654</vt:lpwstr>
  </property>
</Properties>
</file>